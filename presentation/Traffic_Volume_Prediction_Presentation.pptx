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1051560"/>
            <a:ext cx="402336" cy="40233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10835640" y="1051560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051560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·  METRO INTERSTATE TRAFFIC VOLUME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Volume Prediction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 Classification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machine-learning pipeline — regression for hourly traffic volume and classification for congestion level — combined into a real-time decision support system.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20116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081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·  Classification  ·  Streamlit App  ·  Decision Support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5" name="Image 0" descr="/home/claude/icons/help_F5A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on interstate roads is shaped by weather, time of day, day of the week, and holidays — yet commuters and traffic planners typically only find out how bad it is once they're already stuck in 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43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Reactive, not predictive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4846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is usually observed after it happens, leaving little room to plan around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4290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4343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one dataset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617720" y="4846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need both a numeric forecast (how many vehicles) and a simple label (how congested).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38160" y="34290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4343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Weather-linked disruption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412480" y="4846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snow and fog visibly shift traffic patterns but aren't factored into daily planning.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5" name="Image 0" descr="/home/claude/icons/database_1B24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&amp; clean the data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198424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raw traffic-and-weather sensor data and resolve missing values, duplicates and outliers.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9" name="Image 1" descr="/home/claude/icons/layers_1B24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041" y="183904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meaningful features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040880" y="198424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time-based and categorical signals (hour, weekday, holiday, time-of-day period) from raw timestamps.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64992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3" name="Image 2" descr="/home/claude/icons/trend_1B24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51239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traffic volume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regression models to forecast hourly traffic_volume.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3364992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7" name="Image 3" descr="/home/claude/icons/grid_1B24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41" y="3512393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congestion level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04088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classification models to label traffic as Low / Medium / High.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038344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1" name="Image 4" descr="/home/claude/icons/settings_1B24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185745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946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the best model per task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325880" y="533095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hyperparameter search to the strongest regressor and classifier.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5038344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5" name="Image 5" descr="/home/claude/icons/monitor_1B243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041" y="5185745"/>
            <a:ext cx="272125" cy="2721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4946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 usable interface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040880" y="533095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predictions into a single Streamlit decision-support app.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Metro_Interstate_Traffic_Volume_modified.csv — hourly interstate traffic sensor readings paired with weather observations.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67128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48,204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822753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collected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87952" y="2057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167128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25112" y="2822753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27264" y="2057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64424" y="2167128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 – 2018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64424" y="2822753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covered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657600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" y="4313225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87952" y="354787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25112" y="3657600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325112" y="4313225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feature engineering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27264" y="354787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64424" y="3657600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964424" y="4313225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input features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19379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date_time, temp, rain_1h, snow_1h, clouds_all, fog_mm, wind_speed_ms, flood_mm, holiday, weather_main, weather_description, day_type, traffic_volume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ydata-profiling report was generated over the raw dataset to inspect types, missingness and distributions before any cleaning.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73152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/ rain_1h / snow_1h / clouds_all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sensor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traffic_volume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dropped — cannot impute the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means "not a holiday", not missing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fog_mm / wind_speed_ms / flood_mm / weather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populated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228600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2395728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66760" y="3079699"/>
            <a:ext cx="2834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found (0.0%)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0" y="370332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66760" y="3813048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40,575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366760" y="4497019"/>
            <a:ext cx="2834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timestamps of 48,204 rows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120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early finding: the dataset spans 6 years of hourly readings, but early columns show measurement gaps typical of long-running sensor logs — addressed in cleaning.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/home/claude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6852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270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unlabeled rows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34440" y="188366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~5% of rows missing the traffic_volume target — cannot be imputed reliably.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1" descr="/home/claude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58135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23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Median-fill sensor gaps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34440" y="277977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rain_1h, snow_1h, clouds_all and flood_mm missing values filled with the column median.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346704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/home/claude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477463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192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Recode holiday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36758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99.87% missing holiday values recoded to the explicit category "No Holiday".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24281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3" descr="/home/claude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373575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21538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timestamps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34440" y="4572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date_time converted from text to a proper datetime type for downstream feature extraction.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903720" y="155448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1B2430"/>
          </a:solidFill>
          <a:ln/>
        </p:spPr>
      </p:sp>
      <p:sp>
        <p:nvSpPr>
          <p:cNvPr id="21" name="Text 15"/>
          <p:cNvSpPr/>
          <p:nvPr/>
        </p:nvSpPr>
        <p:spPr>
          <a:xfrm>
            <a:off x="7223760" y="17830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CLEANING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22376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96112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48,204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058400" y="2286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45,794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22376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 rows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961120" y="2926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2,410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0058400" y="29260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2237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holiday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961120" y="3566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48,143 (NaN)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0058400" y="35661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("No Holiday")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22376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961120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0058400" y="42062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223760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flagged (IQR)*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961120" y="4846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0058400" y="4846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14.2% · rain 6.8% · flood 6.8%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223760" y="54864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*Flagged via IQR for awareness — retained as legitimate weather extremes, not removed.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Follows the Clock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traffic_volume by hour of day reveals a strong, repeatable rush-hour signature — the single strongest time-based pattern in the dataset.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6207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79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morning peak and a taller afternoon/evening peak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troughs sharply overnight, between roughly midnight and 4 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7880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95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directly motivated the hour and time_period engineered 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532120" cy="4434840"/>
          </a:xfrm>
          <a:prstGeom prst="roundRect">
            <a:avLst>
              <a:gd name="adj" fmla="val 1237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12" name="Image 0" descr="/home/claude/assets/eda_20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91640"/>
            <a:ext cx="5074920" cy="23682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55080" y="41605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Traffic Volume by Hour of Day — real output, Notebook 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vs. Weekend Behavior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pic>
        <p:nvPicPr>
          <p:cNvPr id="5" name="Image 0" descr="/home/claude/assets/eda_23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4937760" cy="2715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Traffic Volume by Day of Week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48006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(Mon–Fri) show consistently higher average volume than Saturday and Sunday.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pic>
        <p:nvPicPr>
          <p:cNvPr id="9" name="Image 1" descr="/home/claude/assets/eda_31_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937760" cy="2679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by Hour, split by Day Type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92240" y="4754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show two sharp rush-hour peaks; weekends show one broader, flatter midday bulge.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Weather Move Traffic?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scatter plots of individual weather variables against traffic_volume — checked before deciding which features to engineer.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6" name="Image 0" descr="/home/claude/assets/eda_35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47548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9659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8" name="Image 1" descr="/home/claude/assets/eda_37_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47548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60807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vs. Traffic Volume — no strong linear trend on its own, but useful combined with hour/season.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63640" y="60807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(last hour) vs. Traffic Volume — most readings cluster at zero rain; volume varies widely regardless of rain amount.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 between numeric features and traffic_volume, computed directly on the cleaned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weather variable correlates strongly with traffic_volume in isolation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021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918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time-based features (hour, day_of_week) and the OneHot-encoded categoricals carry most of the predictive signal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5537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434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modeling approach: tree-based models (Random Forest, XGBoost) that capture interactions outperform Linear/Logistic Regression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234440"/>
            <a:ext cx="589788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2000"/>
              </a:srgbClr>
            </a:outerShdw>
          </a:effectLst>
        </p:spPr>
      </p:sp>
      <p:pic>
        <p:nvPicPr>
          <p:cNvPr id="12" name="Image 0" descr="/home/claude/assets/eda_60_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463040"/>
            <a:ext cx="5257800" cy="4754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signals derived from date_time and traffic_volume — all saved to Data/traffic_feature_engineered.parquet (45,794 rows × 21 columns).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hour, day_of_week, month,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directly from date_time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0–23 · 0–6 · 1–12 · 2012–2018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is_weekend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Saturday/Sunday, else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32,777 weekday · 13,017 weekend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is_holiday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holiday ≠ "No Holiday"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45,736 no · 58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Binned from hour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11,699 · Night 11,647 · Afternoon 9,258 · Evening 7,467 · Late_Night 5,723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congestion_level (target)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traffic_volume split into 3 equal-frequency bins (pd.qcut)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15,266 · Medium 15,265 · High 15,263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weather_description was also normalized: lower-cased and stripped of extra whitespace.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05 &amp;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tasks share an identical time-based split and an identical ColumnTransformer structure, fit separately for each target.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7" name="Image 0" descr="/home/claude/icons/database_F5A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2589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Raw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numeric + 3 categorical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81528" y="29260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47288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4548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3" name="Image 1" descr="/home/claude/icons/settings_F5A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25895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84448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numeric features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80176" y="29260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45936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83196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9" name="Image 2" descr="/home/claude/icons/grid_F5A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17" y="258958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3096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OneHotEncoder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83096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handle_unknown='ignore' on holiday, weather_description, time_period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878824" y="29260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44584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81844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5" name="Image 3" descr="/home/claude/icons/check_F5A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265" y="258958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81744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Model-Ready Features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381744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*_preprocessor.pkl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892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85800" y="5001768"/>
            <a:ext cx="329184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38,257 / 7,537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685800" y="5657393"/>
            <a:ext cx="329184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rows (time-based split: train &lt; 2018, test = 2018)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343400" y="4892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4480560" y="5001768"/>
            <a:ext cx="329184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4480560" y="5657393"/>
            <a:ext cx="329184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feature columns after scaling + one-hot encoding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8138160" y="48920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8275320" y="5001768"/>
            <a:ext cx="32461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pipelines</a:t>
            </a:r>
            <a:endParaRPr lang="en-US" sz="2600" dirty="0"/>
          </a:p>
        </p:txBody>
      </p:sp>
      <p:sp>
        <p:nvSpPr>
          <p:cNvPr id="36" name="Text 30"/>
          <p:cNvSpPr/>
          <p:nvPr/>
        </p:nvSpPr>
        <p:spPr>
          <a:xfrm>
            <a:off x="8275320" y="5657393"/>
            <a:ext cx="32461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regression_preprocessor.pkl · classification_preprocessor.pkl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DummyRegressor (mean strategy): MAE 1,728.06 · RMSE 1,973.94 · R² ≈ 0 — every model below beats it decisively.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782.53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every metric — selected for hyperparameter tuning.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80760" y="192024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8" name="Image 0" descr="/home/claude/assets/reg_18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03120"/>
            <a:ext cx="5120640" cy="3054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across the four candidate models — real chart, Notebook 07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07 ·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Regression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09928"/>
            <a:ext cx="237744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278.06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78938"/>
            <a:ext cx="237744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 set)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09928"/>
            <a:ext cx="237744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486.61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478938"/>
            <a:ext cx="237744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(test set)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709928"/>
            <a:ext cx="237744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0.9392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478938"/>
            <a:ext cx="237744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 set)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RandomizedSearchCV (10 iterations, 3-fold CV, scoring = neg_root_mean_squared_error). Best parameters: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321040" cy="777240"/>
          </a:xfrm>
          <a:prstGeom prst="roundRect">
            <a:avLst>
              <a:gd name="adj" fmla="val 7059"/>
            </a:avLst>
          </a:prstGeom>
          <a:solidFill>
            <a:srgbClr val="1B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57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subsample=0.9 · n_estimators=100 · min_child_weight=3 · max_depth=5 · learning_rate=0.1 · gamma=0.1 · colsample_bytree=1.0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Models/best_xgb_reg.pkl — the exact model loaded by the Streamlit app.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600200"/>
            <a:ext cx="2514600" cy="47091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18" name="Image 0" descr="/home/claude/assets/reg_1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783080"/>
            <a:ext cx="2240280" cy="1737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8116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Actual vs. Predicted Traffic Volume (test set)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Models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(majority-class prediction): Accuracy 0.3328 — a random/naive guess on 3 balanced classes.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309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again wins on every metric — selected for hyperparameter tuning.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78040" y="1920240"/>
            <a:ext cx="4480560" cy="4023360"/>
          </a:xfrm>
          <a:prstGeom prst="roundRect">
            <a:avLst>
              <a:gd name="adj" fmla="val 1364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8" name="Image 0" descr="/home/claude/assets/cls_2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03120"/>
            <a:ext cx="4114800" cy="20391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4251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Precision / Recall / F1 across candidates — real chart, Notebook 08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 ·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Classification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09928"/>
            <a:ext cx="22402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22402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 set)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09928"/>
            <a:ext cx="22402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450592"/>
            <a:ext cx="22402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(weighted)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709928"/>
            <a:ext cx="22402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89320" y="2450592"/>
            <a:ext cx="22402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(weighted)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RandomizedSearchCV (20 iterations, 3-fold CV, scoring = f1_weighted). Best parameters: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1B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subsample=0.7 · n_estimators=500 · max_depth=3 · learning_rate=0.05 · colsample_bytree=0.7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Models/best_xgb_cls.pkl, alongside classification_label_encoder.pkl mapping classes back to High / Low / Medium.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0" y="1600200"/>
            <a:ext cx="2971800" cy="470916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18" name="Image 0" descr="/home/claude/assets/cls_41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783080"/>
            <a:ext cx="2514600" cy="23225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915400" y="4206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tuned XGBoost classifier (test set)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07 &amp;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final models used RandomizedSearchCV over an XGBoost estimator — search space chosen per task's scoring goal.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594360"/>
          </a:xfrm>
          <a:prstGeom prst="roundRect">
            <a:avLst>
              <a:gd name="adj" fmla="val 10769"/>
            </a:avLst>
          </a:prstGeom>
          <a:solidFill>
            <a:srgbClr val="3D5A7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— XGBRegressor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size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3260" y="27432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iterations × 3-fold CV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23260" y="31089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neg_root_mean_squared_error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RMSE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23260" y="34747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512.91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23260" y="384048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23260" y="420624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23260" y="45720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23260" y="49377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23260" y="53035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66928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23260" y="566928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23260" y="603504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196596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965960"/>
            <a:ext cx="5349240" cy="594360"/>
          </a:xfrm>
          <a:prstGeom prst="roundRect">
            <a:avLst>
              <a:gd name="adj" fmla="val 10769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— XGBClassifier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7960" y="27432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size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38260" y="27432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iterations × 3-fold CV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37960" y="31089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38260" y="31089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f1_weighted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37960" y="34747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938260" y="34747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37960" y="384048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938260" y="384048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537960" y="420624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38260" y="420624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37960" y="45720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938260" y="45720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37960" y="49377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938260" y="49377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537960" y="53035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938260" y="53035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2A364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(date, hour, weather...)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29000" y="18745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023360" y="105156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0515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Preprocessor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23360" y="2212848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21284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Regressor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3008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23360" y="3374136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33741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Predicted Traffic Volume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0" y="105156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0515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Preprocessor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89520" y="2212848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221284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Classifier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3008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89520" y="3374136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33741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89520" y="4535424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4535424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Predicted Congestion Level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566160" y="5623560"/>
            <a:ext cx="7269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5623560"/>
            <a:ext cx="7269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Decision Support System — plain-language traffic recommendation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is a thin, read-only interface over the artifacts already saved to Models/ — it never retrains or fabricates a prediction.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126480" cy="4343400"/>
          </a:xfrm>
          <a:prstGeom prst="roundRect">
            <a:avLst>
              <a:gd name="adj" fmla="val 1263"/>
            </a:avLst>
          </a:prstGeom>
          <a:solidFill>
            <a:srgbClr val="F4F6F8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6126480" cy="36576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305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13055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3055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14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🚦 Traffic Volume Prediction &amp; Congestion Classification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Input Features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Hour · Holiday · Temperature · Rain · Snow · Cloud coverage · Fog · Wind speed · Flood level · Weather description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17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Predicted Traffic Volume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5,702 vehicles/hour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49040" y="461772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4617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Predicted Congestion Level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 of the live app — actual values depend on the inputs entered.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/ 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28254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inputs → both predictions + recommendation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34107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98080" y="3410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37216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the last run's inputs and outputs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95160" y="430682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43068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Information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4617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metrics and hyperparameters for both tasks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95160" y="520293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98080" y="52029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5513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pipeline and what the app does / doesn't do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95160" y="6126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design: if any model file is missing, the app shows a clear warning instead of an invented prediction.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Prediction Happens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conditions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hour, holiday and weather values entered in the sidebar.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6382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198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 time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day_of_week, month, year, is_weekend, is_holiday and time_period computed automatically.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4418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234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72923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both pipelines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row is transformed by each ColumnTransformer and scored by each model.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2454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8972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7270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27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7260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result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60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congestion level are shown together with a plain-language recommendation.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and classification outputs are combined into a single plain-language recommendation — logic copied verbatim into app.py.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Congestion: High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🔴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peak hours or consider an alternative route.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2860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286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Congestion: 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🟠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moderate delays and allow extra travel 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2860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286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Congestion: 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🟢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45820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conditions are favorable.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/home/claude/icons/trend_F5A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hyperparameter search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40487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RandomizedSearchCV space and iteration count for both tasks.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1" name="Image 1" descr="/home/claude/icons/cpu_F5A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explainability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69480" y="240487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feature importance directly inside the Streamlit app.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6" name="Image 2" descr="/home/claude/icons/layers_F5A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120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59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canonical model source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41655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"final" model variables from Notebook 09 so there is one unambiguous source of truth per task.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97764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1" name="Image 3" descr="/home/claude/icons/zap_F5A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1202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959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weather feed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441655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weather entry with a live weather API call.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0.9392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explains ~94% of test-set traffic volume variance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 Accuracy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congestion classifier (F1 ≈ 0.897)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033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→ 66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expanded to model-ready features via preprocessing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7033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App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predictions unified into one Streamlit decision-support tool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features and weather conditions drive both tasks — consistent with the EDA findings throughout this project.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2377440"/>
            <a:ext cx="585216" cy="5852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2377440"/>
            <a:ext cx="585216" cy="5852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6720840" y="237744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Interstate Traffic Volume — Prediction &amp; Congestion Classification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2026-07-28T22:03:50Z</dcterms:created>
  <dcterms:modified xsi:type="dcterms:W3CDTF">2026-07-28T22:03:50Z</dcterms:modified>
</cp:coreProperties>
</file>